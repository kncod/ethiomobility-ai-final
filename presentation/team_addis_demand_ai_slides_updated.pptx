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ops problem (45s). Brand as ethiomobility-ai. Point at metric cards and three source chips. Emphasize chronological validation and no leakage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clocks then joins (60s). Stress the +3h bug. Point at fig06 afternoon temp peak after conversion.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takeaways only (50s). Growth → week_index + lags. Football before-window justifies ±2h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Seasonal naive is the bar (60s). HistGBM clears it. Ablation shows joins were worth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Handoff to live demo: https://ethiomobility-ai-final-sscyygvfg6vvbyqfnwz9mq.streamlit.app/. Pick Kazanchis on a match day (e.g. 9 Nov). Show weather/event lookup + drivers. Invite judges to choose zone/date.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201168" rIns="1097280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  ·  ethiomobility-ai — Addis ride demand forecasting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09960" y="256032"/>
            <a:ext cx="777240" cy="365760"/>
          </a:xfrm>
          <a:prstGeom prst="round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Abraham Getachew · Ahmed Hussen · Natanim Masresha · Nigus Shiferaw · Tekilu Asefa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Addis Demand AI  ·  IDAE · EDI-Qiyas-CoDiST Advanced Digital Skills Program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2743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73152" cy="105156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3055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Calibri"/>
              </a:rPr>
              <a:t>12 zones</a:t>
            </a:r>
          </a:p>
          <a:p>
            <a:r>
              <a:rPr sz="1200" b="0">
                <a:solidFill>
                  <a:srgbClr val="5A5A5A"/>
                </a:solidFill>
                <a:latin typeface="Calibri"/>
              </a:rPr>
              <a:t>Addis Ababa pickups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965960"/>
            <a:ext cx="2743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965960"/>
            <a:ext cx="73152" cy="105156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13055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Calibri"/>
              </a:rPr>
              <a:t>1–14 Nov</a:t>
            </a:r>
          </a:p>
          <a:p>
            <a:r>
              <a:rPr sz="1200" b="0">
                <a:solidFill>
                  <a:srgbClr val="5A5A5A"/>
                </a:solidFill>
                <a:latin typeface="Calibri"/>
              </a:rPr>
              <a:t>Forecast fortnight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965960"/>
            <a:ext cx="2743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965960"/>
            <a:ext cx="73152" cy="105156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3055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Calibri"/>
              </a:rPr>
              <a:t>~85k</a:t>
            </a:r>
          </a:p>
          <a:p>
            <a:r>
              <a:rPr sz="1200" b="0">
                <a:solidFill>
                  <a:srgbClr val="5A5A5A"/>
                </a:solidFill>
                <a:latin typeface="Calibri"/>
              </a:rPr>
              <a:t>Train zone-hours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965960"/>
            <a:ext cx="2468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965960"/>
            <a:ext cx="73152" cy="105156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13055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Calibri"/>
              </a:rPr>
              <a:t>3 tables</a:t>
            </a:r>
          </a:p>
          <a:p>
            <a:r>
              <a:rPr sz="1200" b="0">
                <a:solidFill>
                  <a:srgbClr val="5A5A5A"/>
                </a:solidFill>
                <a:latin typeface="Calibri"/>
              </a:rPr>
              <a:t>Trips · weather · 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46120"/>
            <a:ext cx="6766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Goal: hourly trip forecasts so ops know where drivers should be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Integrate three messy sources: ride_demand, weather_hourly, events_calendar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Validate by time — never random split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Only features known at forecast time (no fare / wait / active drivers)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3383280"/>
            <a:ext cx="4114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/>
            <a:r>
              <a:rPr sz="1600" b="1">
                <a:solidFill>
                  <a:srgbClr val="0B3D5C"/>
                </a:solidFill>
                <a:latin typeface="Calibri"/>
              </a:rPr>
              <a:t>1  ride_demand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4160520"/>
            <a:ext cx="4114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/>
            <a:r>
              <a:rPr sz="1600" b="1">
                <a:solidFill>
                  <a:srgbClr val="0B3D5C"/>
                </a:solidFill>
                <a:latin typeface="Calibri"/>
              </a:rPr>
              <a:t>2  weather_hourly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4937760"/>
            <a:ext cx="4114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/>
            <a:r>
              <a:rPr sz="1600" b="1">
                <a:solidFill>
                  <a:srgbClr val="0B3D5C"/>
                </a:solidFill>
                <a:latin typeface="Calibri"/>
              </a:rPr>
              <a:t>3  events_calendar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ethiomobility-ai  ·  Addis Demand AI  ·  IDAE · EDI-Qiyas-CoDiST Advanced Digital Skills Program  ·  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201168" rIns="1097280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  ·  Cleaning &amp; integration — clocks and joins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09960" y="256032"/>
            <a:ext cx="777240" cy="365760"/>
          </a:xfrm>
          <a:prstGeom prst="round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55 zone spellings → 12 canonical labels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Clock proof: trips are EAT (+03); weather mostly UTC (Z)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Convert weather UTC → Africa/Addis_Ababa before join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Weather join: many-to-one on hour — 100% match after hourly spine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Events: interval join; football/concert ±2h; confirmed only (159)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Sentinels fixed (rain −9999); negatives/caps logged in A1</a:t>
            </a:r>
          </a:p>
        </p:txBody>
      </p:sp>
      <p:pic>
        <p:nvPicPr>
          <p:cNvPr id="7" name="Picture 6" descr="fig06_weather_timezone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88720"/>
            <a:ext cx="5577840" cy="24120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ethiomobility-ai  ·  Addis Demand AI  ·  IDAE · EDI-Qiyas-CoDiST Advanced Digital Skills Program  · 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201168" rIns="1097280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  ·  What the data says — two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09960" y="256032"/>
            <a:ext cx="777240" cy="365760"/>
          </a:xfrm>
          <a:prstGeom prst="round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73152" cy="123444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Calibri"/>
              </a:rPr>
              <a:t>~30% growth Jan→Oct</a:t>
            </a:r>
          </a:p>
          <a:p>
            <a:r>
              <a:rPr sz="1200" b="0">
                <a:solidFill>
                  <a:srgbClr val="5A5A5A"/>
                </a:solidFill>
                <a:latin typeface="Calibri"/>
              </a:rPr>
              <a:t>November needs trend + lags — not seasonality alone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486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73152" cy="123444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61872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Calibri"/>
              </a:rPr>
              <a:t>~2.7× pre-kickoff</a:t>
            </a:r>
          </a:p>
          <a:p>
            <a:r>
              <a:rPr sz="1200" b="0">
                <a:solidFill>
                  <a:srgbClr val="5A5A5A"/>
                </a:solidFill>
                <a:latin typeface="Calibri"/>
              </a:rPr>
              <a:t>Football uplift in stadium zones (supports ±2h windows)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Also: Ayat is late-launch (short history) · rain effects differ by zone type · cancelled events excluded</a:t>
            </a:r>
          </a:p>
        </p:txBody>
      </p:sp>
      <p:pic>
        <p:nvPicPr>
          <p:cNvPr id="13" name="Picture 12" descr="fig03_demand_trend_with_holi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926080"/>
            <a:ext cx="5669280" cy="2317509"/>
          </a:xfrm>
          <a:prstGeom prst="rect">
            <a:avLst/>
          </a:prstGeom>
        </p:spPr>
      </p:pic>
      <p:pic>
        <p:nvPicPr>
          <p:cNvPr id="14" name="Picture 13" descr="fig08_event_stu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926080"/>
            <a:ext cx="5577840" cy="241203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ethiomobility-ai  ·  Addis Demand AI  ·  IDAE · EDI-Qiyas-CoDiST Advanced Digital Skills Program  · 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201168" rIns="1097280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  ·  Modeling — beat the seasonal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09960" y="256032"/>
            <a:ext cx="777240" cy="365760"/>
          </a:xfrm>
          <a:prstGeom prst="round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2651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73152" cy="100584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Calibri"/>
              </a:rPr>
              <a:t>10.16</a:t>
            </a:r>
          </a:p>
          <a:p>
            <a:r>
              <a:rPr sz="1200" b="0">
                <a:solidFill>
                  <a:srgbClr val="5A5A5A"/>
                </a:solidFill>
                <a:latin typeface="Calibri"/>
              </a:rPr>
              <a:t>Tuned HistGBM RMSE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097280"/>
            <a:ext cx="2651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097280"/>
            <a:ext cx="73152" cy="100584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261872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Calibri"/>
              </a:rPr>
              <a:t>12.08</a:t>
            </a:r>
          </a:p>
          <a:p>
            <a:r>
              <a:rPr sz="1200" b="0">
                <a:solidFill>
                  <a:srgbClr val="5A5A5A"/>
                </a:solidFill>
                <a:latin typeface="Calibri"/>
              </a:rPr>
              <a:t>Seasonal naive RMSE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097280"/>
            <a:ext cx="2651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097280"/>
            <a:ext cx="73152" cy="100584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261872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Calibri"/>
              </a:rPr>
              <a:t>11.06±0.42</a:t>
            </a:r>
          </a:p>
          <a:p>
            <a:r>
              <a:rPr sz="1200" b="0">
                <a:solidFill>
                  <a:srgbClr val="5A5A5A"/>
                </a:solidFill>
                <a:latin typeface="Calibri"/>
              </a:rPr>
              <a:t>Rolling 5-fold RMSE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097280"/>
            <a:ext cx="2926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40" y="1097280"/>
            <a:ext cx="73152" cy="100584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26187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Calibri"/>
              </a:rPr>
              <a:t>No leak</a:t>
            </a:r>
          </a:p>
          <a:p>
            <a:r>
              <a:rPr sz="1200" b="0">
                <a:solidFill>
                  <a:srgbClr val="5A5A5A"/>
                </a:solidFill>
                <a:latin typeface="Calibri"/>
              </a:rPr>
              <a:t>Fare / wait / drivers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3317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Split: train &lt; 18 Oct · validate 18–31 Oct (time-ordered)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Mean baseline RMSE 27.9 — seasonal naive is the real bar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Winner: HistGBM (D6 tuned) · MAE ≈ 6.41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Ablation: calendar 10.43 → +weather+events 10.16 (−0.27)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Rules 5–7: weather+events in model · chronological · no ops leakage</a:t>
            </a:r>
          </a:p>
        </p:txBody>
      </p:sp>
      <p:pic>
        <p:nvPicPr>
          <p:cNvPr id="19" name="Picture 18" descr="fig10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286000"/>
            <a:ext cx="5577840" cy="302699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ethiomobility-ai  ·  Addis Demand AI  ·  IDAE · EDI-Qiyas-CoDiST Advanced Digital Skills Program  · 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201168" rIns="1097280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  ·  Errors, score, demo — and what’s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09960" y="256032"/>
            <a:ext cx="777240" cy="365760"/>
          </a:xfrm>
          <a:prstGeom prst="round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669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Errors peak on rush hours, holidays, and unlisted event spikes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Tried peak/rain interactions after D7 — no gain; kept simpler model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Ops buffer: MAE ≈ 6.4 trips/h → ~±5 drivers at 1.3 trips/driver-hour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Submission: 4,032 rows · team_addis_demand_ai_submission.csv · Addis Demand AI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Next: quantile intervals · Ayat-specific model · drift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43400"/>
            <a:ext cx="5669280" cy="1783080"/>
          </a:xfrm>
          <a:prstGeom prst="round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1168" rIns="182880"/>
          <a:lstStyle/>
          <a:p>
            <a:pPr algn="ctr"/>
            <a:r>
              <a:rPr sz="1300" b="1">
                <a:solidFill>
                  <a:srgbClr val="0072B2"/>
                </a:solidFill>
                <a:latin typeface="Calibri"/>
              </a:rPr>
              <a:t>Live demo  ·  ethiomobility-ai</a:t>
            </a:r>
          </a:p>
          <a:p>
            <a:r>
              <a:rPr sz="1100" b="1">
                <a:solidFill>
                  <a:srgbClr val="FFFFFF"/>
                </a:solidFill>
                <a:latin typeface="Calibri"/>
              </a:rPr>
              <a:t>https://ethiomobility-ai-final-sscyygvfg6vvbyqfnwz9mq.streamlit.app/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Zone + date only · auto weather/events · Streamlit</a:t>
            </a:r>
          </a:p>
        </p:txBody>
      </p:sp>
      <p:pic>
        <p:nvPicPr>
          <p:cNvPr id="8" name="Picture 7" descr="fig11_forecast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97280"/>
            <a:ext cx="5394960" cy="44259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ethiomobility-ai  ·  Addis Demand AI  ·  IDAE · EDI-Qiyas-CoDiST Advanced Digital Skills Program  · 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